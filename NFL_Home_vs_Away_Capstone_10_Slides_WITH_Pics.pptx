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422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2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24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2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491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9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1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62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6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9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4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8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NFL Scoring: Home vs Away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000" dirty="0"/>
              <a:t>Capstone Phase II — Tableau Analysis • Author: </a:t>
            </a:r>
            <a:r>
              <a:rPr lang="en-US" sz="2000" dirty="0"/>
              <a:t>Darien Evans</a:t>
            </a:r>
          </a:p>
          <a:p>
            <a:r>
              <a:rPr sz="2000" dirty="0"/>
              <a:t>Dataset: Kaggle  </a:t>
            </a:r>
            <a:r>
              <a:rPr lang="en-US" sz="1800" b="1" dirty="0"/>
              <a:t>NFL scores and betting data </a:t>
            </a:r>
            <a:r>
              <a:rPr sz="1800" dirty="0"/>
              <a:t>(1966–2024)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1435"/>
            <a:ext cx="8229600" cy="452596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3200" dirty="0"/>
              <a:t>Which NFL teams consistently score the most points per game at home vs away?</a:t>
            </a:r>
          </a:p>
          <a:p>
            <a:pPr>
              <a:defRPr sz="2000"/>
            </a:pPr>
            <a:r>
              <a:rPr sz="3200" dirty="0"/>
              <a:t>How large is the home‑field scoring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0" y="4030782"/>
            <a:ext cx="1016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this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Side-by-side bars compare each team’s </a:t>
            </a:r>
            <a:r>
              <a:rPr lang="en-US" sz="1400" b="1" dirty="0"/>
              <a:t>average points per game</a:t>
            </a:r>
            <a:r>
              <a:rPr lang="en-US" sz="1400" dirty="0"/>
              <a:t> at </a:t>
            </a:r>
            <a:r>
              <a:rPr lang="en-US" sz="1400" b="1" dirty="0"/>
              <a:t>Home vs Away</a:t>
            </a:r>
            <a:r>
              <a:rPr lang="en-US" sz="1400" dirty="0"/>
              <a:t> (for the years selected).</a:t>
            </a:r>
          </a:p>
          <a:p>
            <a:r>
              <a:rPr lang="en-US" sz="14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League pattern:</a:t>
            </a:r>
            <a:r>
              <a:rPr lang="en-US" sz="1400" dirty="0"/>
              <a:t> Home bars are usually higher → home teams score </a:t>
            </a:r>
            <a:r>
              <a:rPr lang="en-US" sz="1400" b="1" dirty="0"/>
              <a:t>~2–3 PPG more</a:t>
            </a:r>
            <a:r>
              <a:rPr lang="en-US" sz="1400" dirty="0"/>
              <a:t> on average.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Elite offenses:</a:t>
            </a:r>
            <a:r>
              <a:rPr lang="en-US" sz="1400" dirty="0"/>
              <a:t> Teams with </a:t>
            </a:r>
            <a:r>
              <a:rPr lang="en-US" sz="1400" b="1" dirty="0"/>
              <a:t>both bars high</a:t>
            </a:r>
            <a:r>
              <a:rPr lang="en-US" sz="1400" dirty="0"/>
              <a:t> (top quartile for Home </a:t>
            </a:r>
            <a:r>
              <a:rPr lang="en-US" sz="1400" i="1" dirty="0"/>
              <a:t>and</a:t>
            </a:r>
            <a:r>
              <a:rPr lang="en-US" sz="1400" dirty="0"/>
              <a:t> Away) are strong </a:t>
            </a:r>
            <a:r>
              <a:rPr lang="en-US" sz="1400" b="1" dirty="0"/>
              <a:t>in any stadium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Home-leaning teams:</a:t>
            </a:r>
            <a:r>
              <a:rPr lang="en-US" sz="1400" dirty="0"/>
              <a:t> A </a:t>
            </a:r>
            <a:r>
              <a:rPr lang="en-US" sz="1400" b="1" dirty="0"/>
              <a:t>big gap</a:t>
            </a:r>
            <a:r>
              <a:rPr lang="en-US" sz="1400" dirty="0"/>
              <a:t> (Home ≫ Away, ~3+ PPG) suggests venue/crowd/conditions matter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Travel-proof teams:</a:t>
            </a:r>
            <a:r>
              <a:rPr lang="en-US" sz="1400" dirty="0"/>
              <a:t> </a:t>
            </a:r>
            <a:r>
              <a:rPr lang="en-US" sz="1400" b="1" dirty="0"/>
              <a:t>Small gap</a:t>
            </a:r>
            <a:r>
              <a:rPr lang="en-US" sz="1400" dirty="0"/>
              <a:t> (≤1 PPG) means their offense </a:t>
            </a:r>
            <a:r>
              <a:rPr lang="en-US" sz="1400" b="1" dirty="0"/>
              <a:t>travels well</a:t>
            </a:r>
            <a:r>
              <a:rPr lang="en-US" sz="1400" dirty="0"/>
              <a:t>—consistent home or road.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Ranking shifts by era:</a:t>
            </a:r>
            <a:r>
              <a:rPr lang="en-US" sz="1400" dirty="0"/>
              <a:t> Move the </a:t>
            </a:r>
            <a:r>
              <a:rPr lang="en-US" sz="1400" b="1" dirty="0"/>
              <a:t>Year slider</a:t>
            </a:r>
            <a:r>
              <a:rPr lang="en-US" sz="1400" dirty="0"/>
              <a:t>—orders change, but the </a:t>
            </a:r>
            <a:r>
              <a:rPr lang="en-US" sz="1400" b="1" dirty="0"/>
              <a:t>home edge</a:t>
            </a:r>
            <a:r>
              <a:rPr lang="en-US" sz="1400" dirty="0"/>
              <a:t> generally remains.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“Most teams score a bit more at home, but the best offenses sit high on both bars—those are the ones that travel.”</a:t>
            </a:r>
          </a:p>
          <a:p>
            <a:pPr>
              <a:defRPr sz="1600"/>
            </a:pPr>
            <a:r>
              <a:rPr sz="1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0C315F-4199-5576-2FB2-7B60DCA1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528"/>
            <a:ext cx="9283700" cy="41963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Worksheet 2 — Top 10 Home Scoring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65418"/>
            <a:ext cx="90373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this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10 highest average PPG at home</a:t>
            </a:r>
            <a:r>
              <a:rPr lang="en-US" sz="1400" dirty="0"/>
              <a:t> for your selected years (bar labels = avg points per game).</a:t>
            </a:r>
          </a:p>
          <a:p>
            <a:r>
              <a:rPr lang="en-US" sz="14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Tight cluster</a:t>
            </a:r>
            <a:r>
              <a:rPr lang="en-US" sz="1400" dirty="0"/>
              <a:t>: Leaders sit roughly </a:t>
            </a:r>
            <a:r>
              <a:rPr lang="en-US" sz="1400" b="1" dirty="0"/>
              <a:t>~23–25 PPG at home</a:t>
            </a:r>
            <a:r>
              <a:rPr lang="en-US" sz="1400" dirty="0"/>
              <a:t>, so the gap from #1 to #10 is small → </a:t>
            </a:r>
            <a:r>
              <a:rPr lang="en-US" sz="1400" b="1" dirty="0"/>
              <a:t>elite parity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True elite offenses</a:t>
            </a:r>
            <a:r>
              <a:rPr lang="en-US" sz="1400" dirty="0"/>
              <a:t>: Teams that also appear in </a:t>
            </a:r>
            <a:r>
              <a:rPr lang="en-US" sz="1400" b="1" dirty="0"/>
              <a:t>Worksheet 3 (Top 10 Away)</a:t>
            </a:r>
            <a:r>
              <a:rPr lang="en-US" sz="1400" dirty="0"/>
              <a:t> are strong </a:t>
            </a:r>
            <a:r>
              <a:rPr lang="en-US" sz="1400" b="1" dirty="0"/>
              <a:t>in any stadium</a:t>
            </a:r>
            <a:r>
              <a:rPr lang="en-US" sz="1400" dirty="0"/>
              <a:t> (not just a home product).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Home-leaning signals</a:t>
            </a:r>
            <a:r>
              <a:rPr lang="en-US" sz="1400" dirty="0"/>
              <a:t>: If a team ranks high here but </a:t>
            </a:r>
            <a:r>
              <a:rPr lang="en-US" sz="1400" b="1" dirty="0"/>
              <a:t>not</a:t>
            </a:r>
            <a:r>
              <a:rPr lang="en-US" sz="1400" dirty="0"/>
              <a:t> away, it hints at </a:t>
            </a:r>
            <a:r>
              <a:rPr lang="en-US" sz="1400" b="1" dirty="0"/>
              <a:t>venue-driven edge</a:t>
            </a:r>
            <a:r>
              <a:rPr lang="en-US" sz="1400" dirty="0"/>
              <a:t> (crowd noise, climate, altitude, or dome years).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Era matters</a:t>
            </a:r>
            <a:r>
              <a:rPr lang="en-US" sz="1400" dirty="0"/>
              <a:t>: Slide the </a:t>
            </a:r>
            <a:r>
              <a:rPr lang="en-US" sz="1400" b="1" dirty="0"/>
              <a:t>Year</a:t>
            </a:r>
            <a:r>
              <a:rPr lang="en-US" sz="1400" dirty="0"/>
              <a:t> filter—orders shift across eras, but top home offenses still cluster in the </a:t>
            </a:r>
            <a:r>
              <a:rPr lang="en-US" sz="1400" b="1" dirty="0"/>
              <a:t>mid-20s PPG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Context check</a:t>
            </a:r>
            <a:r>
              <a:rPr lang="en-US" sz="1400" dirty="0"/>
              <a:t>: A big home average can come from </a:t>
            </a:r>
            <a:r>
              <a:rPr lang="en-US" sz="1400" b="1" dirty="0"/>
              <a:t>high pace</a:t>
            </a:r>
            <a:r>
              <a:rPr lang="en-US" sz="1400" dirty="0"/>
              <a:t> or </a:t>
            </a:r>
            <a:r>
              <a:rPr lang="en-US" sz="1400" b="1" dirty="0"/>
              <a:t>soft home schedules</a:t>
            </a:r>
            <a:r>
              <a:rPr lang="en-US" sz="1400" dirty="0"/>
              <a:t>—use later “advantage” and “trend” sheets to confirm.</a:t>
            </a:r>
          </a:p>
          <a:p>
            <a:pPr>
              <a:defRPr sz="1600"/>
            </a:pPr>
            <a:endParaRPr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A647D2-8BBA-231C-6814-816156D0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680" y="0"/>
            <a:ext cx="9250680" cy="36654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14288" y="3439324"/>
            <a:ext cx="91582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this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10 highest average points per game on the road</a:t>
            </a:r>
            <a:r>
              <a:rPr lang="en-US" sz="1400" dirty="0"/>
              <a:t> for the years in your filter. (Bar labels = </a:t>
            </a:r>
            <a:r>
              <a:rPr lang="en-US" sz="1400" b="1" dirty="0"/>
              <a:t>Avg Away PPG</a:t>
            </a:r>
            <a:r>
              <a:rPr lang="en-US" sz="1400" dirty="0"/>
              <a:t>.)</a:t>
            </a:r>
          </a:p>
          <a:p>
            <a:r>
              <a:rPr lang="en-US" sz="14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Road resilience:</a:t>
            </a:r>
            <a:r>
              <a:rPr lang="en-US" sz="1400" dirty="0"/>
              <a:t> These offenses </a:t>
            </a:r>
            <a:r>
              <a:rPr lang="en-US" sz="1400" b="1" dirty="0"/>
              <a:t>travel well</a:t>
            </a:r>
            <a:r>
              <a:rPr lang="en-US" sz="1400" dirty="0"/>
              <a:t>—they keep scoring even without home-field advantages.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Tight range:</a:t>
            </a:r>
            <a:r>
              <a:rPr lang="en-US" sz="1400" dirty="0"/>
              <a:t> Away leaders typically cluster around </a:t>
            </a:r>
            <a:r>
              <a:rPr lang="en-US" sz="1400" b="1" dirty="0"/>
              <a:t>~21–23.5 PPG</a:t>
            </a:r>
            <a:r>
              <a:rPr lang="en-US" sz="1400" dirty="0"/>
              <a:t>, so the gap from #1 to #10 is </a:t>
            </a:r>
            <a:r>
              <a:rPr lang="en-US" sz="1400" b="1" dirty="0"/>
              <a:t>small</a:t>
            </a:r>
            <a:r>
              <a:rPr lang="en-US" sz="1400" dirty="0"/>
              <a:t> (strong parity at the top).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True elites overlap:</a:t>
            </a:r>
            <a:r>
              <a:rPr lang="en-US" sz="1400" dirty="0"/>
              <a:t> Teams that also appear in</a:t>
            </a:r>
            <a:r>
              <a:rPr lang="en-US" sz="1400" b="1" dirty="0"/>
              <a:t> (Top 10 Home)</a:t>
            </a:r>
            <a:r>
              <a:rPr lang="en-US" sz="1400" dirty="0"/>
              <a:t> are the </a:t>
            </a:r>
            <a:r>
              <a:rPr lang="en-US" sz="1400" b="1" dirty="0"/>
              <a:t>most reliable</a:t>
            </a:r>
            <a:r>
              <a:rPr lang="en-US" sz="1400" dirty="0"/>
              <a:t>—they’re strong </a:t>
            </a:r>
            <a:r>
              <a:rPr lang="en-US" sz="1400" b="1" dirty="0"/>
              <a:t>in any stadium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Home-leaning vs. portable:</a:t>
            </a:r>
            <a:r>
              <a:rPr lang="en-US" sz="1400" dirty="0"/>
              <a:t> If a team ranks </a:t>
            </a:r>
            <a:r>
              <a:rPr lang="en-US" sz="1400" b="1" dirty="0"/>
              <a:t>high away but mid/low at home</a:t>
            </a:r>
            <a:r>
              <a:rPr lang="en-US" sz="1400" dirty="0"/>
              <a:t>, it suggests the offense is </a:t>
            </a:r>
            <a:r>
              <a:rPr lang="en-US" sz="1400" b="1" dirty="0"/>
              <a:t>system/QB driven</a:t>
            </a:r>
            <a:r>
              <a:rPr lang="en-US" sz="1400" dirty="0"/>
              <a:t> more than venue-dependent.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Era-sensitive:</a:t>
            </a:r>
            <a:r>
              <a:rPr lang="en-US" sz="1400" dirty="0"/>
              <a:t> Adjust the </a:t>
            </a:r>
            <a:r>
              <a:rPr lang="en-US" sz="1400" b="1" dirty="0"/>
              <a:t>Year slider</a:t>
            </a:r>
            <a:r>
              <a:rPr lang="en-US" sz="1400" dirty="0"/>
              <a:t>—orders shift by era, but top road offenses still stay near the low–mid-20s PPG band.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32B65C-537F-87E6-7313-317A560B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C87DB6-E274-C261-831E-183112C7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92"/>
            <a:ext cx="9158288" cy="3433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463C6E08-5C1B-3B9C-2AE9-789C7C7C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68" y="3529679"/>
            <a:ext cx="87677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field gives a real bump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most teams score about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+2 to +3 points per game more at home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away.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teams get a bigger 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+3 to +4+ PPG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In your view, big examples include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Cowboys (~+4.4)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Broncos (~+4.0)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Ravens (~+4.0)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Seahawks (~+3.6)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Near-zero bars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the team’s offense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travels well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(home and away scoring are similar).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names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Boston Patriots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St. Louis 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can look extreme because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small/older samples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—mention as a caveat.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This chart shows how many </a:t>
            </a:r>
            <a:r>
              <a:rPr lang="en-US" sz="1600" b="1" dirty="0"/>
              <a:t>extra points per game</a:t>
            </a:r>
            <a:r>
              <a:rPr lang="en-US" sz="1600" dirty="0"/>
              <a:t> each team scores </a:t>
            </a:r>
            <a:r>
              <a:rPr lang="en-US" sz="1600" b="1" dirty="0"/>
              <a:t>at home vs away</a:t>
            </a:r>
            <a:r>
              <a:rPr lang="en-US" sz="1600" dirty="0"/>
              <a:t>—most teams are around </a:t>
            </a:r>
            <a:r>
              <a:rPr lang="en-US" sz="1600" b="1" dirty="0"/>
              <a:t>+2–3 PPG</a:t>
            </a:r>
            <a:r>
              <a:rPr lang="en-US" sz="1600" dirty="0"/>
              <a:t>, and a few venues/teams push </a:t>
            </a:r>
            <a:r>
              <a:rPr lang="en-US" sz="1600" b="1" dirty="0"/>
              <a:t>+4 PPG</a:t>
            </a:r>
            <a:r>
              <a:rPr lang="en-US" sz="1600" dirty="0"/>
              <a:t>, which signals a stronger home effect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99CD40-D901-D27C-6EC4-1168C15CD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8" y="0"/>
            <a:ext cx="9144000" cy="363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Worksheet 5 — Team Scoring Trend (Home vs Away)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545" y="3955286"/>
            <a:ext cx="9144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What this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</a:t>
            </a:r>
            <a:r>
              <a:rPr lang="en-US" sz="1200" b="1" dirty="0"/>
              <a:t>line chart over seasons</a:t>
            </a:r>
            <a:r>
              <a:rPr lang="en-US" sz="1200" dirty="0"/>
              <a:t> for one selected team, with </a:t>
            </a:r>
            <a:r>
              <a:rPr lang="en-US" sz="1200" b="1" dirty="0"/>
              <a:t>two lines</a:t>
            </a:r>
            <a:r>
              <a:rPr lang="en-US" sz="1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Home (orange)</a:t>
            </a:r>
            <a:r>
              <a:rPr lang="en-US" sz="1200" dirty="0"/>
              <a:t> average points per game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b="1" dirty="0"/>
              <a:t>Away (blue)</a:t>
            </a:r>
            <a:r>
              <a:rPr lang="en-US" sz="1200" dirty="0"/>
              <a:t> average points per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Year slider</a:t>
            </a:r>
            <a:r>
              <a:rPr lang="en-US" sz="1200" dirty="0"/>
              <a:t> changes the window; </a:t>
            </a:r>
            <a:r>
              <a:rPr lang="en-US" sz="1200" b="1" dirty="0"/>
              <a:t>Team filter</a:t>
            </a:r>
            <a:r>
              <a:rPr lang="en-US" sz="1200" dirty="0"/>
              <a:t> switches the franchise.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For most teams, the </a:t>
            </a:r>
            <a:r>
              <a:rPr lang="en-US" sz="1200" b="1" dirty="0"/>
              <a:t>Home line sits above the Away line</a:t>
            </a:r>
            <a:r>
              <a:rPr lang="en-US" sz="1200" dirty="0"/>
              <a:t> in most years → a </a:t>
            </a:r>
            <a:r>
              <a:rPr lang="en-US" sz="1200" b="1" dirty="0"/>
              <a:t>~2–3 PPG</a:t>
            </a:r>
            <a:r>
              <a:rPr lang="en-US" sz="1200" dirty="0"/>
              <a:t> home 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gap size changes by era</a:t>
            </a:r>
            <a:r>
              <a:rPr lang="en-US" sz="1200" dirty="0"/>
              <a:t> (coaching/QB changes, rules, venue).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Crossovers</a:t>
            </a:r>
            <a:r>
              <a:rPr lang="en-US" sz="1200" dirty="0"/>
              <a:t> (Away above Home for a stretch) highlight </a:t>
            </a:r>
            <a:r>
              <a:rPr lang="en-US" sz="1200" b="1" dirty="0"/>
              <a:t>road-strong periods</a:t>
            </a:r>
            <a:r>
              <a:rPr lang="en-US" sz="1200" dirty="0"/>
              <a:t> or </a:t>
            </a:r>
            <a:r>
              <a:rPr lang="en-US" sz="1200" b="1" dirty="0"/>
              <a:t>weak home years</a:t>
            </a:r>
            <a:r>
              <a:rPr lang="en-U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Recent windows</a:t>
            </a:r>
            <a:r>
              <a:rPr lang="en-US" sz="1200" dirty="0"/>
              <a:t> (last 5–10 seasons) often tell a clearer, modern story than all-time.</a:t>
            </a:r>
          </a:p>
          <a:p>
            <a:pPr>
              <a:defRPr sz="1600"/>
            </a:pPr>
            <a:r>
              <a:rPr sz="12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108EED-1996-5FE7-0FF7-C224E039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9826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48672-BEAB-6C35-3E21-B10B98D1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91954"/>
            <a:ext cx="9144000" cy="3066046"/>
          </a:xfrm>
        </p:spPr>
        <p:txBody>
          <a:bodyPr>
            <a:normAutofit/>
          </a:bodyPr>
          <a:lstStyle/>
          <a:p>
            <a:r>
              <a:rPr lang="en-US" dirty="0"/>
              <a:t>This chart compares the average points per game (PPG) scored by teams at home and away across different NFL eras.</a:t>
            </a:r>
          </a:p>
          <a:p>
            <a:pPr lvl="1"/>
            <a:r>
              <a:rPr lang="en-US" dirty="0"/>
              <a:t>- Scoring has increased steadily over time for both home and away teams.</a:t>
            </a:r>
          </a:p>
          <a:p>
            <a:pPr lvl="1"/>
            <a:r>
              <a:rPr lang="en-US" dirty="0"/>
              <a:t>- Home teams consistently outscore away teams in every era.</a:t>
            </a:r>
          </a:p>
          <a:p>
            <a:pPr lvl="1"/>
            <a:r>
              <a:rPr lang="en-US" dirty="0"/>
              <a:t>- The scoring gap was wider in earlier eras (1970s–1990s) than in recent eras.</a:t>
            </a:r>
          </a:p>
          <a:p>
            <a:pPr lvl="1"/>
            <a:r>
              <a:rPr lang="en-US" dirty="0"/>
              <a:t>- 2020s show the highest average scoring overall, with home teams averaging nearly 24 PPG.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5D99C-F2DF-5E4B-8DC4-6CDD0E905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12DCC-FF88-D082-2C7D-C09A457F4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9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5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6D14-C182-7A27-2701-C0326EBC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830C8-58E1-2D81-BC12-10C4DC2F7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91" y="3590533"/>
            <a:ext cx="9008609" cy="34506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chart measures the scoring advantage home teams have over away teams in different eras (Home PPG – Away PPG).</a:t>
            </a:r>
          </a:p>
          <a:p>
            <a:pPr lvl="1"/>
            <a:r>
              <a:rPr lang="en-US" dirty="0"/>
              <a:t>- The 1990s had the largest home-field scoring advantage (+3.2 PPG).</a:t>
            </a:r>
          </a:p>
          <a:p>
            <a:pPr lvl="1"/>
            <a:r>
              <a:rPr lang="en-US" dirty="0"/>
              <a:t>- The advantage has gradually declined in the 2010s and 2020s.</a:t>
            </a:r>
          </a:p>
          <a:p>
            <a:pPr lvl="1"/>
            <a:r>
              <a:rPr lang="en-US" dirty="0"/>
              <a:t>- Recent decades suggest that the traditional 'home-field advantage' is shrinking.</a:t>
            </a:r>
          </a:p>
          <a:p>
            <a:pPr lvl="1"/>
            <a:r>
              <a:rPr lang="en-US" dirty="0"/>
              <a:t>- Possible reasons: improved travel, neutral officiating, and parity in league rules.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2AC815-8386-8FAB-2ABA-27591D1E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7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7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6091" y="804520"/>
            <a:ext cx="6571343" cy="1049235"/>
          </a:xfrm>
        </p:spPr>
        <p:txBody>
          <a:bodyPr/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362" y="2375346"/>
            <a:ext cx="8229600" cy="2971354"/>
          </a:xfrm>
        </p:spPr>
        <p:txBody>
          <a:bodyPr/>
          <a:lstStyle/>
          <a:p>
            <a:pPr>
              <a:defRPr sz="2000"/>
            </a:pPr>
            <a:r>
              <a:rPr dirty="0"/>
              <a:t>Home field adds a small but consistent scoring edge (~2–3 PPG).</a:t>
            </a:r>
          </a:p>
          <a:p>
            <a:pPr>
              <a:defRPr sz="2000"/>
            </a:pPr>
            <a:r>
              <a:rPr dirty="0"/>
              <a:t>The best offenses appear in both Top‑10 lists — strong home &amp; away.</a:t>
            </a:r>
            <a:endParaRPr lang="en-US" dirty="0"/>
          </a:p>
          <a:p>
            <a:pPr>
              <a:defRPr sz="2000"/>
            </a:pPr>
            <a:r>
              <a:rPr lang="en-US" dirty="0"/>
              <a:t>A few venues show a </a:t>
            </a:r>
            <a:r>
              <a:rPr lang="en-US" b="1" dirty="0"/>
              <a:t>bigger boost (+3–4 PPG)</a:t>
            </a:r>
            <a:r>
              <a:rPr lang="en-US" dirty="0"/>
              <a:t> → likely stadium/altitude/noise effects.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830</TotalTime>
  <Words>1041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NFL Scoring: Home vs Away</vt:lpstr>
      <vt:lpstr>Problem Statement</vt:lpstr>
      <vt:lpstr>PowerPoint Presentation</vt:lpstr>
      <vt:lpstr>Worksheet 2 — Top 10 Home Scoring Teams</vt:lpstr>
      <vt:lpstr>PowerPoint Presentation</vt:lpstr>
      <vt:lpstr>PowerPoint Presentation</vt:lpstr>
      <vt:lpstr>Worksheet 5 — Team Scoring Trend (Home vs Away)</vt:lpstr>
      <vt:lpstr>PowerPoint Presentation</vt:lpstr>
      <vt:lpstr>PowerPoint Presentation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Darien Evans</cp:lastModifiedBy>
  <cp:revision>2</cp:revision>
  <dcterms:created xsi:type="dcterms:W3CDTF">2013-01-27T09:14:16Z</dcterms:created>
  <dcterms:modified xsi:type="dcterms:W3CDTF">2025-09-30T21:15:29Z</dcterms:modified>
  <cp:category/>
</cp:coreProperties>
</file>